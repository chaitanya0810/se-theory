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" charset="1" panose="02020603050405020304"/>
      <p:regular r:id="rId16"/>
    </p:embeddedFont>
    <p:embeddedFont>
      <p:font typeface="Times New Roman Bold" charset="1" panose="02020803070505020304"/>
      <p:regular r:id="rId17"/>
    </p:embeddedFon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21770" y="-132007"/>
            <a:ext cx="11986793" cy="5275505"/>
            <a:chOff x="0" y="0"/>
            <a:chExt cx="15982391" cy="70340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82393" cy="7034005"/>
            </a:xfrm>
            <a:custGeom>
              <a:avLst/>
              <a:gdLst/>
              <a:ahLst/>
              <a:cxnLst/>
              <a:rect r="r" b="b" t="t" l="l"/>
              <a:pathLst>
                <a:path h="7034005" w="15982393">
                  <a:moveTo>
                    <a:pt x="0" y="0"/>
                  </a:moveTo>
                  <a:lnTo>
                    <a:pt x="15982393" y="0"/>
                  </a:lnTo>
                  <a:lnTo>
                    <a:pt x="15982393" y="7034005"/>
                  </a:lnTo>
                  <a:lnTo>
                    <a:pt x="0" y="70340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67" t="0" r="-6467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5982391" cy="7062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</a:t>
              </a:r>
              <a:r>
                <a:rPr lang="en-US" sz="3900" b="true">
                  <a:solidFill>
                    <a:srgbClr val="4F81B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CMR TECHNICAL CAMPUS             </a:t>
              </a:r>
            </a:p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4F81B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       UGC  Autonomous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9537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Accredited by NBA &amp; NAAC with ‘A’ Grade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Approved by AICTE, New Delhi and JNTU Hyderabad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Kandlakoya, Medchal Road, Hyd-501 401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9537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</a:t>
              </a:r>
              <a:r>
                <a:rPr lang="en-US" sz="2700" b="true">
                  <a:solidFill>
                    <a:srgbClr val="4F81B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Department of  CSE[AIML] 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b="true" sz="2700" u="sng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</a:t>
              </a:r>
              <a:r>
                <a:rPr lang="en-US" sz="2700" b="true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STUDENT’S THEORY PPT PRESENTATION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2355" y="274091"/>
            <a:ext cx="2152650" cy="1616869"/>
            <a:chOff x="0" y="0"/>
            <a:chExt cx="2870200" cy="2155825"/>
          </a:xfrm>
        </p:grpSpPr>
        <p:sp>
          <p:nvSpPr>
            <p:cNvPr name="Freeform 6" id="6" descr="Picture 3"/>
            <p:cNvSpPr/>
            <p:nvPr/>
          </p:nvSpPr>
          <p:spPr>
            <a:xfrm flipH="false" flipV="false" rot="0">
              <a:off x="0" y="0"/>
              <a:ext cx="2870200" cy="2155825"/>
            </a:xfrm>
            <a:custGeom>
              <a:avLst/>
              <a:gdLst/>
              <a:ahLst/>
              <a:cxnLst/>
              <a:rect r="r" b="b" t="t" l="l"/>
              <a:pathLst>
                <a:path h="2155825" w="2870200">
                  <a:moveTo>
                    <a:pt x="0" y="0"/>
                  </a:moveTo>
                  <a:lnTo>
                    <a:pt x="2870200" y="0"/>
                  </a:lnTo>
                  <a:lnTo>
                    <a:pt x="2870200" y="2155825"/>
                  </a:lnTo>
                  <a:lnTo>
                    <a:pt x="0" y="2155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43" t="0" r="-464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070226" y="274101"/>
            <a:ext cx="1938338" cy="1616869"/>
            <a:chOff x="0" y="0"/>
            <a:chExt cx="2584450" cy="2155825"/>
          </a:xfrm>
        </p:grpSpPr>
        <p:sp>
          <p:nvSpPr>
            <p:cNvPr name="Freeform 8" id="8" descr="Picture 6"/>
            <p:cNvSpPr/>
            <p:nvPr/>
          </p:nvSpPr>
          <p:spPr>
            <a:xfrm flipH="false" flipV="false" rot="0">
              <a:off x="0" y="0"/>
              <a:ext cx="2584450" cy="2155825"/>
            </a:xfrm>
            <a:custGeom>
              <a:avLst/>
              <a:gdLst/>
              <a:ahLst/>
              <a:cxnLst/>
              <a:rect r="r" b="b" t="t" l="l"/>
              <a:pathLst>
                <a:path h="2155825" w="2584450">
                  <a:moveTo>
                    <a:pt x="0" y="0"/>
                  </a:moveTo>
                  <a:lnTo>
                    <a:pt x="2584450" y="0"/>
                  </a:lnTo>
                  <a:lnTo>
                    <a:pt x="2584450" y="2155825"/>
                  </a:lnTo>
                  <a:lnTo>
                    <a:pt x="0" y="2155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654" t="0" r="-11655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997127" y="4769263"/>
            <a:ext cx="12293756" cy="2172798"/>
            <a:chOff x="0" y="0"/>
            <a:chExt cx="16391674" cy="28970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391679" cy="2897067"/>
            </a:xfrm>
            <a:custGeom>
              <a:avLst/>
              <a:gdLst/>
              <a:ahLst/>
              <a:cxnLst/>
              <a:rect r="r" b="b" t="t" l="l"/>
              <a:pathLst>
                <a:path h="2897067" w="16391679">
                  <a:moveTo>
                    <a:pt x="0" y="0"/>
                  </a:moveTo>
                  <a:lnTo>
                    <a:pt x="16391679" y="0"/>
                  </a:lnTo>
                  <a:lnTo>
                    <a:pt x="16391679" y="2897067"/>
                  </a:lnTo>
                  <a:lnTo>
                    <a:pt x="0" y="28970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246" r="0" b="-6024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6391674" cy="3020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58"/>
                </a:lnSpc>
              </a:pPr>
              <a:r>
                <a:rPr lang="en-US" sz="2550" b="true">
                  <a:solidFill>
                    <a:srgbClr val="9537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Name of the class:    Software Engineering</a:t>
              </a:r>
            </a:p>
            <a:p>
              <a:pPr algn="ctr">
                <a:lnSpc>
                  <a:spcPts val="4158"/>
                </a:lnSpc>
              </a:pPr>
              <a:r>
                <a:rPr lang="en-US" sz="2550" b="true">
                  <a:solidFill>
                    <a:srgbClr val="9537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Presentation Title:    Introduction to Software Engineering &amp; Software Crisis</a:t>
              </a:r>
            </a:p>
            <a:p>
              <a:pPr algn="ctr">
                <a:lnSpc>
                  <a:spcPts val="41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977269" y="6910026"/>
            <a:ext cx="11678841" cy="218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</a:p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95373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FACULTY DETAILS:                                                 STUDENT DETAILS</a:t>
            </a:r>
            <a:r>
              <a:rPr lang="en-US" sz="2400">
                <a:solidFill>
                  <a:srgbClr val="9537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VISHNU</a:t>
            </a: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                                             A.SAHAN REDDY</a:t>
            </a:r>
          </a:p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Ass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			                                                              257R1A66C9</a:t>
            </a:r>
          </a:p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CSM                                                                                 CSM-I Year, Section-C</a:t>
            </a:r>
          </a:p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853108"/>
            <a:chOff x="0" y="0"/>
            <a:chExt cx="24402453" cy="2470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470785"/>
            </a:xfrm>
            <a:custGeom>
              <a:avLst/>
              <a:gdLst/>
              <a:ahLst/>
              <a:cxnLst/>
              <a:rect r="r" b="b" t="t" l="l"/>
              <a:pathLst>
                <a:path h="247078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17365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89577" y="2470861"/>
            <a:ext cx="15877384" cy="235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1736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 to Software Engineering</a:t>
            </a:r>
          </a:p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2A61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 Software Crisis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7028" y="5263829"/>
            <a:ext cx="15191051" cy="9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Important concepts, SDLC, causes of software crisis, and solutions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65523" y="7199386"/>
            <a:ext cx="3514611" cy="1249709"/>
            <a:chOff x="0" y="0"/>
            <a:chExt cx="4686148" cy="16662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86173" cy="1666367"/>
            </a:xfrm>
            <a:custGeom>
              <a:avLst/>
              <a:gdLst/>
              <a:ahLst/>
              <a:cxnLst/>
              <a:rect r="r" b="b" t="t" l="l"/>
              <a:pathLst>
                <a:path h="1666367" w="4686173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4408424" y="0"/>
                  </a:lnTo>
                  <a:cubicBezTo>
                    <a:pt x="4561840" y="0"/>
                    <a:pt x="4686173" y="124333"/>
                    <a:pt x="4686173" y="277749"/>
                  </a:cubicBezTo>
                  <a:lnTo>
                    <a:pt x="4686173" y="1388618"/>
                  </a:lnTo>
                  <a:cubicBezTo>
                    <a:pt x="4686173" y="1542034"/>
                    <a:pt x="4561840" y="1666367"/>
                    <a:pt x="4408424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686148" cy="172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36650" y="7199386"/>
            <a:ext cx="3514611" cy="1249709"/>
            <a:chOff x="0" y="0"/>
            <a:chExt cx="4686148" cy="16662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86173" cy="1666367"/>
            </a:xfrm>
            <a:custGeom>
              <a:avLst/>
              <a:gdLst/>
              <a:ahLst/>
              <a:cxnLst/>
              <a:rect r="r" b="b" t="t" l="l"/>
              <a:pathLst>
                <a:path h="1666367" w="4686173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4408424" y="0"/>
                  </a:lnTo>
                  <a:cubicBezTo>
                    <a:pt x="4561840" y="0"/>
                    <a:pt x="4686173" y="124333"/>
                    <a:pt x="4686173" y="277749"/>
                  </a:cubicBezTo>
                  <a:lnTo>
                    <a:pt x="4686173" y="1388618"/>
                  </a:lnTo>
                  <a:cubicBezTo>
                    <a:pt x="4686173" y="1542034"/>
                    <a:pt x="4561840" y="1666367"/>
                    <a:pt x="4408424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686148" cy="172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QUALITY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07778" y="7199386"/>
            <a:ext cx="3514611" cy="1249709"/>
            <a:chOff x="0" y="0"/>
            <a:chExt cx="4686148" cy="16662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6173" cy="1666367"/>
            </a:xfrm>
            <a:custGeom>
              <a:avLst/>
              <a:gdLst/>
              <a:ahLst/>
              <a:cxnLst/>
              <a:rect r="r" b="b" t="t" l="l"/>
              <a:pathLst>
                <a:path h="1666367" w="4686173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4408424" y="0"/>
                  </a:lnTo>
                  <a:cubicBezTo>
                    <a:pt x="4561840" y="0"/>
                    <a:pt x="4686173" y="124333"/>
                    <a:pt x="4686173" y="277749"/>
                  </a:cubicBezTo>
                  <a:lnTo>
                    <a:pt x="4686173" y="1388618"/>
                  </a:lnTo>
                  <a:cubicBezTo>
                    <a:pt x="4686173" y="1542034"/>
                    <a:pt x="4561840" y="1666367"/>
                    <a:pt x="4408424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686148" cy="172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CRISIS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57360">
            <a:off x="4851844" y="7814710"/>
            <a:ext cx="2513105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7360">
            <a:off x="10822962" y="7814710"/>
            <a:ext cx="2513105" cy="0"/>
          </a:xfrm>
          <a:prstGeom prst="line">
            <a:avLst/>
          </a:prstGeom>
          <a:ln cap="rnd" w="19050">
            <a:solidFill>
              <a:srgbClr val="C03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2882608" y="8716470"/>
            <a:ext cx="12628588" cy="754971"/>
            <a:chOff x="0" y="0"/>
            <a:chExt cx="16838117" cy="10066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838115" cy="1006626"/>
            </a:xfrm>
            <a:custGeom>
              <a:avLst/>
              <a:gdLst/>
              <a:ahLst/>
              <a:cxnLst/>
              <a:rect r="r" b="b" t="t" l="l"/>
              <a:pathLst>
                <a:path h="1006626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6838117" cy="1063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5C69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Software Engineering helps control the problems created by growing software size, complexity, and demand.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482490"/>
            <a:chOff x="0" y="0"/>
            <a:chExt cx="24402453" cy="19766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976628"/>
            </a:xfrm>
            <a:custGeom>
              <a:avLst/>
              <a:gdLst/>
              <a:ahLst/>
              <a:cxnLst/>
              <a:rect r="r" b="b" t="t" l="l"/>
              <a:pathLst>
                <a:path h="197662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976628"/>
                  </a:lnTo>
                  <a:lnTo>
                    <a:pt x="0" y="1976628"/>
                  </a:lnTo>
                  <a:close/>
                </a:path>
              </a:pathLst>
            </a:custGeom>
            <a:solidFill>
              <a:srgbClr val="17365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7587" y="193348"/>
            <a:ext cx="16426453" cy="8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What is Software Engineering?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2499" y="1617850"/>
            <a:ext cx="16289188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Definition and purpose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88979" y="9684963"/>
            <a:ext cx="118979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8214" y="2381221"/>
            <a:ext cx="9425826" cy="642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• A systematic approach to developing and maintaining software.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Uses engineering methods for planning, requirements, design, coding, testing, and maintenance.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• Helps manage large and complex software projects.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• Main goal: produce reliable, high-quality software within time and budget.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17395" y="2532297"/>
            <a:ext cx="2759640" cy="1002621"/>
            <a:chOff x="0" y="0"/>
            <a:chExt cx="3679520" cy="13368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79444" cy="1336802"/>
            </a:xfrm>
            <a:custGeom>
              <a:avLst/>
              <a:gdLst/>
              <a:ahLst/>
              <a:cxnLst/>
              <a:rect r="r" b="b" t="t" l="l"/>
              <a:pathLst>
                <a:path h="1336802" w="3679444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3456686" y="0"/>
                  </a:lnTo>
                  <a:cubicBezTo>
                    <a:pt x="3579749" y="0"/>
                    <a:pt x="3679444" y="99695"/>
                    <a:pt x="3679444" y="222758"/>
                  </a:cubicBezTo>
                  <a:lnTo>
                    <a:pt x="3679444" y="1114044"/>
                  </a:lnTo>
                  <a:cubicBezTo>
                    <a:pt x="3679444" y="1237107"/>
                    <a:pt x="3579749" y="1336802"/>
                    <a:pt x="3456686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679520" cy="1393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Requirements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74542" y="2532297"/>
            <a:ext cx="2485111" cy="1002621"/>
            <a:chOff x="0" y="0"/>
            <a:chExt cx="3313481" cy="13368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3430" cy="1336802"/>
            </a:xfrm>
            <a:custGeom>
              <a:avLst/>
              <a:gdLst/>
              <a:ahLst/>
              <a:cxnLst/>
              <a:rect r="r" b="b" t="t" l="l"/>
              <a:pathLst>
                <a:path h="1336802" w="3313430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3090672" y="0"/>
                  </a:lnTo>
                  <a:cubicBezTo>
                    <a:pt x="3213735" y="0"/>
                    <a:pt x="3313430" y="99695"/>
                    <a:pt x="3313430" y="222758"/>
                  </a:cubicBezTo>
                  <a:lnTo>
                    <a:pt x="3313430" y="1114044"/>
                  </a:lnTo>
                  <a:cubicBezTo>
                    <a:pt x="3313430" y="1237107"/>
                    <a:pt x="3213735" y="1336802"/>
                    <a:pt x="3090672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313481" cy="1393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17395" y="4179503"/>
            <a:ext cx="2759640" cy="1002621"/>
            <a:chOff x="0" y="0"/>
            <a:chExt cx="3679520" cy="13368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79444" cy="1336802"/>
            </a:xfrm>
            <a:custGeom>
              <a:avLst/>
              <a:gdLst/>
              <a:ahLst/>
              <a:cxnLst/>
              <a:rect r="r" b="b" t="t" l="l"/>
              <a:pathLst>
                <a:path h="1336802" w="3679444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3456686" y="0"/>
                  </a:lnTo>
                  <a:cubicBezTo>
                    <a:pt x="3579749" y="0"/>
                    <a:pt x="3679444" y="99695"/>
                    <a:pt x="3679444" y="222758"/>
                  </a:cubicBezTo>
                  <a:lnTo>
                    <a:pt x="3679444" y="1114044"/>
                  </a:lnTo>
                  <a:cubicBezTo>
                    <a:pt x="3679444" y="1237107"/>
                    <a:pt x="3579749" y="1336802"/>
                    <a:pt x="3456686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679520" cy="1393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474542" y="4179503"/>
            <a:ext cx="2485111" cy="1002621"/>
            <a:chOff x="0" y="0"/>
            <a:chExt cx="3313481" cy="13368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13430" cy="1336802"/>
            </a:xfrm>
            <a:custGeom>
              <a:avLst/>
              <a:gdLst/>
              <a:ahLst/>
              <a:cxnLst/>
              <a:rect r="r" b="b" t="t" l="l"/>
              <a:pathLst>
                <a:path h="1336802" w="3313430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3090672" y="0"/>
                  </a:lnTo>
                  <a:cubicBezTo>
                    <a:pt x="3213735" y="0"/>
                    <a:pt x="3313430" y="99695"/>
                    <a:pt x="3313430" y="222758"/>
                  </a:cubicBezTo>
                  <a:lnTo>
                    <a:pt x="3313430" y="1114044"/>
                  </a:lnTo>
                  <a:cubicBezTo>
                    <a:pt x="3313430" y="1237107"/>
                    <a:pt x="3213735" y="1336802"/>
                    <a:pt x="3090672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313481" cy="1393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95974" y="5826709"/>
            <a:ext cx="2759640" cy="1002621"/>
            <a:chOff x="0" y="0"/>
            <a:chExt cx="3679520" cy="13368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79444" cy="1336802"/>
            </a:xfrm>
            <a:custGeom>
              <a:avLst/>
              <a:gdLst/>
              <a:ahLst/>
              <a:cxnLst/>
              <a:rect r="r" b="b" t="t" l="l"/>
              <a:pathLst>
                <a:path h="1336802" w="3679444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3456686" y="0"/>
                  </a:lnTo>
                  <a:cubicBezTo>
                    <a:pt x="3579749" y="0"/>
                    <a:pt x="3679444" y="99695"/>
                    <a:pt x="3679444" y="222758"/>
                  </a:cubicBezTo>
                  <a:lnTo>
                    <a:pt x="3679444" y="1114044"/>
                  </a:lnTo>
                  <a:cubicBezTo>
                    <a:pt x="3679444" y="1237107"/>
                    <a:pt x="3579749" y="1336802"/>
                    <a:pt x="3456686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679520" cy="1393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Maintenance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316860">
            <a:off x="14047956" y="3518240"/>
            <a:ext cx="455676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10026480">
            <a:off x="12636656" y="3847681"/>
            <a:ext cx="3141002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316860">
            <a:off x="14047956" y="5165446"/>
            <a:ext cx="455676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9282600">
            <a:off x="14176200" y="5494887"/>
            <a:ext cx="1640481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482490"/>
            <a:chOff x="0" y="0"/>
            <a:chExt cx="24402453" cy="19766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976628"/>
            </a:xfrm>
            <a:custGeom>
              <a:avLst/>
              <a:gdLst/>
              <a:ahLst/>
              <a:cxnLst/>
              <a:rect r="r" b="b" t="t" l="l"/>
              <a:pathLst>
                <a:path h="197662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976628"/>
                  </a:lnTo>
                  <a:lnTo>
                    <a:pt x="0" y="1976628"/>
                  </a:lnTo>
                  <a:close/>
                </a:path>
              </a:pathLst>
            </a:custGeom>
            <a:solidFill>
              <a:srgbClr val="17365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7587" y="193348"/>
            <a:ext cx="16426453" cy="8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Why Do We Need Software Engineering?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2499" y="1617850"/>
            <a:ext cx="16289188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Benefits of a disciplined process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88979" y="9684963"/>
            <a:ext cx="118979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984" y="2463660"/>
            <a:ext cx="2279209" cy="906532"/>
            <a:chOff x="0" y="0"/>
            <a:chExt cx="3038945" cy="12087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38856" cy="1208659"/>
            </a:xfrm>
            <a:custGeom>
              <a:avLst/>
              <a:gdLst/>
              <a:ahLst/>
              <a:cxnLst/>
              <a:rect r="r" b="b" t="t" l="l"/>
              <a:pathLst>
                <a:path h="1208659" w="3038856">
                  <a:moveTo>
                    <a:pt x="0" y="201422"/>
                  </a:moveTo>
                  <a:cubicBezTo>
                    <a:pt x="0" y="90170"/>
                    <a:pt x="90170" y="0"/>
                    <a:pt x="201422" y="0"/>
                  </a:cubicBezTo>
                  <a:lnTo>
                    <a:pt x="2837434" y="0"/>
                  </a:lnTo>
                  <a:cubicBezTo>
                    <a:pt x="2948686" y="0"/>
                    <a:pt x="3038856" y="90170"/>
                    <a:pt x="3038856" y="201422"/>
                  </a:cubicBezTo>
                  <a:lnTo>
                    <a:pt x="3038856" y="1007237"/>
                  </a:lnTo>
                  <a:cubicBezTo>
                    <a:pt x="3038856" y="1118489"/>
                    <a:pt x="2948686" y="1208659"/>
                    <a:pt x="2837434" y="1208659"/>
                  </a:cubicBezTo>
                  <a:lnTo>
                    <a:pt x="201422" y="1208659"/>
                  </a:lnTo>
                  <a:cubicBezTo>
                    <a:pt x="90170" y="1208659"/>
                    <a:pt x="0" y="1118489"/>
                    <a:pt x="0" y="1007237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038945" cy="1256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Quality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729018" y="2505885"/>
            <a:ext cx="4827375" cy="11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Improves software quality,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reliability and security.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95660" y="2463660"/>
            <a:ext cx="2279209" cy="906532"/>
            <a:chOff x="0" y="0"/>
            <a:chExt cx="3038945" cy="12087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38856" cy="1208659"/>
            </a:xfrm>
            <a:custGeom>
              <a:avLst/>
              <a:gdLst/>
              <a:ahLst/>
              <a:cxnLst/>
              <a:rect r="r" b="b" t="t" l="l"/>
              <a:pathLst>
                <a:path h="1208659" w="3038856">
                  <a:moveTo>
                    <a:pt x="0" y="201422"/>
                  </a:moveTo>
                  <a:cubicBezTo>
                    <a:pt x="0" y="90170"/>
                    <a:pt x="90170" y="0"/>
                    <a:pt x="201422" y="0"/>
                  </a:cubicBezTo>
                  <a:lnTo>
                    <a:pt x="2837434" y="0"/>
                  </a:lnTo>
                  <a:cubicBezTo>
                    <a:pt x="2948686" y="0"/>
                    <a:pt x="3038856" y="90170"/>
                    <a:pt x="3038856" y="201422"/>
                  </a:cubicBezTo>
                  <a:lnTo>
                    <a:pt x="3038856" y="1007237"/>
                  </a:lnTo>
                  <a:cubicBezTo>
                    <a:pt x="3038856" y="1118489"/>
                    <a:pt x="2948686" y="1208659"/>
                    <a:pt x="2837434" y="1208659"/>
                  </a:cubicBezTo>
                  <a:lnTo>
                    <a:pt x="201422" y="1208659"/>
                  </a:lnTo>
                  <a:cubicBezTo>
                    <a:pt x="90170" y="1208659"/>
                    <a:pt x="0" y="1118489"/>
                    <a:pt x="0" y="1007237"/>
                  </a:cubicBezTo>
                  <a:close/>
                </a:path>
              </a:pathLst>
            </a:custGeom>
            <a:solidFill>
              <a:srgbClr val="FCF1E0"/>
            </a:solidFill>
            <a:ln w="14299" cap="sq">
              <a:solidFill>
                <a:srgbClr val="DD842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038945" cy="1256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033685" y="2505885"/>
            <a:ext cx="4827375" cy="11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Helps reduce development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cost and project risks.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90984" y="5620807"/>
            <a:ext cx="2279209" cy="906532"/>
            <a:chOff x="0" y="0"/>
            <a:chExt cx="3038945" cy="12087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38856" cy="1208659"/>
            </a:xfrm>
            <a:custGeom>
              <a:avLst/>
              <a:gdLst/>
              <a:ahLst/>
              <a:cxnLst/>
              <a:rect r="r" b="b" t="t" l="l"/>
              <a:pathLst>
                <a:path h="1208659" w="3038856">
                  <a:moveTo>
                    <a:pt x="0" y="201422"/>
                  </a:moveTo>
                  <a:cubicBezTo>
                    <a:pt x="0" y="90170"/>
                    <a:pt x="90170" y="0"/>
                    <a:pt x="201422" y="0"/>
                  </a:cubicBezTo>
                  <a:lnTo>
                    <a:pt x="2837434" y="0"/>
                  </a:lnTo>
                  <a:cubicBezTo>
                    <a:pt x="2948686" y="0"/>
                    <a:pt x="3038856" y="90170"/>
                    <a:pt x="3038856" y="201422"/>
                  </a:cubicBezTo>
                  <a:lnTo>
                    <a:pt x="3038856" y="1007237"/>
                  </a:lnTo>
                  <a:cubicBezTo>
                    <a:pt x="3038856" y="1118489"/>
                    <a:pt x="2948686" y="1208659"/>
                    <a:pt x="2837434" y="1208659"/>
                  </a:cubicBezTo>
                  <a:lnTo>
                    <a:pt x="201422" y="1208659"/>
                  </a:lnTo>
                  <a:cubicBezTo>
                    <a:pt x="90170" y="1208659"/>
                    <a:pt x="0" y="1118489"/>
                    <a:pt x="0" y="1007237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038945" cy="1256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729018" y="5663032"/>
            <a:ext cx="4827375" cy="11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planned schedules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and better project control.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95660" y="5620807"/>
            <a:ext cx="2279209" cy="906532"/>
            <a:chOff x="0" y="0"/>
            <a:chExt cx="3038945" cy="12087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38856" cy="1208659"/>
            </a:xfrm>
            <a:custGeom>
              <a:avLst/>
              <a:gdLst/>
              <a:ahLst/>
              <a:cxnLst/>
              <a:rect r="r" b="b" t="t" l="l"/>
              <a:pathLst>
                <a:path h="1208659" w="3038856">
                  <a:moveTo>
                    <a:pt x="0" y="201422"/>
                  </a:moveTo>
                  <a:cubicBezTo>
                    <a:pt x="0" y="90170"/>
                    <a:pt x="90170" y="0"/>
                    <a:pt x="201422" y="0"/>
                  </a:cubicBezTo>
                  <a:lnTo>
                    <a:pt x="2837434" y="0"/>
                  </a:lnTo>
                  <a:cubicBezTo>
                    <a:pt x="2948686" y="0"/>
                    <a:pt x="3038856" y="90170"/>
                    <a:pt x="3038856" y="201422"/>
                  </a:cubicBezTo>
                  <a:lnTo>
                    <a:pt x="3038856" y="1007237"/>
                  </a:lnTo>
                  <a:cubicBezTo>
                    <a:pt x="3038856" y="1118489"/>
                    <a:pt x="2948686" y="1208659"/>
                    <a:pt x="2837434" y="1208659"/>
                  </a:cubicBezTo>
                  <a:lnTo>
                    <a:pt x="201422" y="1208659"/>
                  </a:lnTo>
                  <a:cubicBezTo>
                    <a:pt x="90170" y="1208659"/>
                    <a:pt x="0" y="1118489"/>
                    <a:pt x="0" y="1007237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038945" cy="1256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Maintenance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033685" y="5663032"/>
            <a:ext cx="4827375" cy="11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Makes testing, documentation,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and maintenance easier.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482490"/>
            <a:chOff x="0" y="0"/>
            <a:chExt cx="24402453" cy="19766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976628"/>
            </a:xfrm>
            <a:custGeom>
              <a:avLst/>
              <a:gdLst/>
              <a:ahLst/>
              <a:cxnLst/>
              <a:rect r="r" b="b" t="t" l="l"/>
              <a:pathLst>
                <a:path h="197662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976628"/>
                  </a:lnTo>
                  <a:lnTo>
                    <a:pt x="0" y="1976628"/>
                  </a:lnTo>
                  <a:close/>
                </a:path>
              </a:pathLst>
            </a:custGeom>
            <a:solidFill>
              <a:srgbClr val="17365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7587" y="193348"/>
            <a:ext cx="16426453" cy="8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Software Development Life Cycle (SDLC)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2499" y="1617850"/>
            <a:ext cx="16289188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A structured process for developing software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88979" y="9684963"/>
            <a:ext cx="118979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5092" y="3081366"/>
            <a:ext cx="2279209" cy="1112434"/>
            <a:chOff x="0" y="0"/>
            <a:chExt cx="3038945" cy="14832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38983" cy="1483360"/>
            </a:xfrm>
            <a:custGeom>
              <a:avLst/>
              <a:gdLst/>
              <a:ahLst/>
              <a:cxnLst/>
              <a:rect r="r" b="b" t="t" l="l"/>
              <a:pathLst>
                <a:path h="1483360" w="303898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791714" y="0"/>
                  </a:lnTo>
                  <a:cubicBezTo>
                    <a:pt x="2928239" y="0"/>
                    <a:pt x="3038983" y="110744"/>
                    <a:pt x="3038983" y="247269"/>
                  </a:cubicBezTo>
                  <a:lnTo>
                    <a:pt x="3038983" y="1236091"/>
                  </a:lnTo>
                  <a:cubicBezTo>
                    <a:pt x="3038983" y="1372616"/>
                    <a:pt x="2928239" y="1483360"/>
                    <a:pt x="279171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038945" cy="1540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Planning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17180">
            <a:off x="3138945" y="3628053"/>
            <a:ext cx="283483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3397082" y="3081366"/>
            <a:ext cx="2279209" cy="1112434"/>
            <a:chOff x="0" y="0"/>
            <a:chExt cx="3038945" cy="14832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38983" cy="1483360"/>
            </a:xfrm>
            <a:custGeom>
              <a:avLst/>
              <a:gdLst/>
              <a:ahLst/>
              <a:cxnLst/>
              <a:rect r="r" b="b" t="t" l="l"/>
              <a:pathLst>
                <a:path h="1483360" w="303898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791714" y="0"/>
                  </a:lnTo>
                  <a:cubicBezTo>
                    <a:pt x="2928239" y="0"/>
                    <a:pt x="3038983" y="110744"/>
                    <a:pt x="3038983" y="247269"/>
                  </a:cubicBezTo>
                  <a:lnTo>
                    <a:pt x="3038983" y="1236091"/>
                  </a:lnTo>
                  <a:cubicBezTo>
                    <a:pt x="3038983" y="1372616"/>
                    <a:pt x="2928239" y="1483360"/>
                    <a:pt x="279171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038945" cy="1530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Requirements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417180">
            <a:off x="5650935" y="3628053"/>
            <a:ext cx="283483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5909072" y="3081366"/>
            <a:ext cx="2279209" cy="1112434"/>
            <a:chOff x="0" y="0"/>
            <a:chExt cx="3038945" cy="14832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38983" cy="1483360"/>
            </a:xfrm>
            <a:custGeom>
              <a:avLst/>
              <a:gdLst/>
              <a:ahLst/>
              <a:cxnLst/>
              <a:rect r="r" b="b" t="t" l="l"/>
              <a:pathLst>
                <a:path h="1483360" w="303898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791714" y="0"/>
                  </a:lnTo>
                  <a:cubicBezTo>
                    <a:pt x="2928239" y="0"/>
                    <a:pt x="3038983" y="110744"/>
                    <a:pt x="3038983" y="247269"/>
                  </a:cubicBezTo>
                  <a:lnTo>
                    <a:pt x="3038983" y="1236091"/>
                  </a:lnTo>
                  <a:cubicBezTo>
                    <a:pt x="3038983" y="1372616"/>
                    <a:pt x="2928239" y="1483360"/>
                    <a:pt x="279171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038945" cy="1540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417180">
            <a:off x="8162925" y="3628053"/>
            <a:ext cx="283483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8421062" y="3081366"/>
            <a:ext cx="2279209" cy="1112434"/>
            <a:chOff x="0" y="0"/>
            <a:chExt cx="3038945" cy="14832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38983" cy="1483360"/>
            </a:xfrm>
            <a:custGeom>
              <a:avLst/>
              <a:gdLst/>
              <a:ahLst/>
              <a:cxnLst/>
              <a:rect r="r" b="b" t="t" l="l"/>
              <a:pathLst>
                <a:path h="1483360" w="303898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791714" y="0"/>
                  </a:lnTo>
                  <a:cubicBezTo>
                    <a:pt x="2928239" y="0"/>
                    <a:pt x="3038983" y="110744"/>
                    <a:pt x="3038983" y="247269"/>
                  </a:cubicBezTo>
                  <a:lnTo>
                    <a:pt x="3038983" y="1236091"/>
                  </a:lnTo>
                  <a:cubicBezTo>
                    <a:pt x="3038983" y="1372616"/>
                    <a:pt x="2928239" y="1483360"/>
                    <a:pt x="279171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038945" cy="1530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417180">
            <a:off x="10674915" y="3628053"/>
            <a:ext cx="283483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0933052" y="3081366"/>
            <a:ext cx="2279209" cy="1112434"/>
            <a:chOff x="0" y="0"/>
            <a:chExt cx="3038945" cy="14832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38983" cy="1483360"/>
            </a:xfrm>
            <a:custGeom>
              <a:avLst/>
              <a:gdLst/>
              <a:ahLst/>
              <a:cxnLst/>
              <a:rect r="r" b="b" t="t" l="l"/>
              <a:pathLst>
                <a:path h="1483360" w="303898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791714" y="0"/>
                  </a:lnTo>
                  <a:cubicBezTo>
                    <a:pt x="2928239" y="0"/>
                    <a:pt x="3038983" y="110744"/>
                    <a:pt x="3038983" y="247269"/>
                  </a:cubicBezTo>
                  <a:lnTo>
                    <a:pt x="3038983" y="1236091"/>
                  </a:lnTo>
                  <a:cubicBezTo>
                    <a:pt x="3038983" y="1372616"/>
                    <a:pt x="2928239" y="1483360"/>
                    <a:pt x="279171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038945" cy="1540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417180">
            <a:off x="13186905" y="3628053"/>
            <a:ext cx="283483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3445042" y="3081366"/>
            <a:ext cx="2279209" cy="1112434"/>
            <a:chOff x="0" y="0"/>
            <a:chExt cx="3038945" cy="148324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38983" cy="1483360"/>
            </a:xfrm>
            <a:custGeom>
              <a:avLst/>
              <a:gdLst/>
              <a:ahLst/>
              <a:cxnLst/>
              <a:rect r="r" b="b" t="t" l="l"/>
              <a:pathLst>
                <a:path h="1483360" w="303898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791714" y="0"/>
                  </a:lnTo>
                  <a:cubicBezTo>
                    <a:pt x="2928239" y="0"/>
                    <a:pt x="3038983" y="110744"/>
                    <a:pt x="3038983" y="247269"/>
                  </a:cubicBezTo>
                  <a:lnTo>
                    <a:pt x="3038983" y="1236091"/>
                  </a:lnTo>
                  <a:cubicBezTo>
                    <a:pt x="3038983" y="1372616"/>
                    <a:pt x="2928239" y="1483360"/>
                    <a:pt x="279171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038945" cy="1540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417180">
            <a:off x="15698895" y="3628053"/>
            <a:ext cx="283483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5957032" y="3081366"/>
            <a:ext cx="2279209" cy="1112434"/>
            <a:chOff x="0" y="0"/>
            <a:chExt cx="3038945" cy="148324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38983" cy="1483360"/>
            </a:xfrm>
            <a:custGeom>
              <a:avLst/>
              <a:gdLst/>
              <a:ahLst/>
              <a:cxnLst/>
              <a:rect r="r" b="b" t="t" l="l"/>
              <a:pathLst>
                <a:path h="1483360" w="303898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791714" y="0"/>
                  </a:lnTo>
                  <a:cubicBezTo>
                    <a:pt x="2928239" y="0"/>
                    <a:pt x="3038983" y="110744"/>
                    <a:pt x="3038983" y="247269"/>
                  </a:cubicBezTo>
                  <a:lnTo>
                    <a:pt x="3038983" y="1236091"/>
                  </a:lnTo>
                  <a:cubicBezTo>
                    <a:pt x="3038983" y="1372616"/>
                    <a:pt x="2928239" y="1483360"/>
                    <a:pt x="279171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3038945" cy="1540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Maintenance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45343" y="5490686"/>
            <a:ext cx="12628588" cy="823608"/>
            <a:chOff x="0" y="0"/>
            <a:chExt cx="16838117" cy="10981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838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6838117" cy="1155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1736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Common models: Waterfall • Agile • Spiral • V-Model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745343" y="6863363"/>
            <a:ext cx="12628588" cy="823608"/>
            <a:chOff x="0" y="0"/>
            <a:chExt cx="16838117" cy="10981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838115" cy="1098138"/>
            </a:xfrm>
            <a:custGeom>
              <a:avLst/>
              <a:gdLst/>
              <a:ahLst/>
              <a:cxnLst/>
              <a:rect r="r" b="b" t="t" l="l"/>
              <a:pathLst>
                <a:path h="1098138" w="16838115">
                  <a:moveTo>
                    <a:pt x="0" y="0"/>
                  </a:moveTo>
                  <a:lnTo>
                    <a:pt x="16838115" y="0"/>
                  </a:lnTo>
                  <a:lnTo>
                    <a:pt x="16838115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6838117" cy="1145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5C69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Good process → better planning → better testing → better software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482490"/>
            <a:chOff x="0" y="0"/>
            <a:chExt cx="24402453" cy="19766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976628"/>
            </a:xfrm>
            <a:custGeom>
              <a:avLst/>
              <a:gdLst/>
              <a:ahLst/>
              <a:cxnLst/>
              <a:rect r="r" b="b" t="t" l="l"/>
              <a:pathLst>
                <a:path h="197662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976628"/>
                  </a:lnTo>
                  <a:lnTo>
                    <a:pt x="0" y="1976628"/>
                  </a:lnTo>
                  <a:close/>
                </a:path>
              </a:pathLst>
            </a:custGeom>
            <a:solidFill>
              <a:srgbClr val="17365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7587" y="193348"/>
            <a:ext cx="16426453" cy="8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What is Software Crisis?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2499" y="1617850"/>
            <a:ext cx="16289188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When software demand, size, and complexity grow faster than development capability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88979" y="9684963"/>
            <a:ext cx="118979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0940" y="2322109"/>
            <a:ext cx="8053159" cy="298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• Software crisis can cause budget problems, delays, poor efficiency, low quality, and management difficulty.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• It becomes visible when projects do not meet planned cost, time, quality, or requirements.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993484" y="5689444"/>
            <a:ext cx="4132316" cy="1730140"/>
            <a:chOff x="0" y="0"/>
            <a:chExt cx="5509755" cy="2306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09768" cy="2306828"/>
            </a:xfrm>
            <a:custGeom>
              <a:avLst/>
              <a:gdLst/>
              <a:ahLst/>
              <a:cxnLst/>
              <a:rect r="r" b="b" t="t" l="l"/>
              <a:pathLst>
                <a:path h="2306828" w="5509768">
                  <a:moveTo>
                    <a:pt x="0" y="1153414"/>
                  </a:moveTo>
                  <a:cubicBezTo>
                    <a:pt x="0" y="516382"/>
                    <a:pt x="1233424" y="0"/>
                    <a:pt x="2754884" y="0"/>
                  </a:cubicBezTo>
                  <a:cubicBezTo>
                    <a:pt x="4276344" y="0"/>
                    <a:pt x="5509768" y="516382"/>
                    <a:pt x="5509768" y="1153414"/>
                  </a:cubicBezTo>
                  <a:cubicBezTo>
                    <a:pt x="5509768" y="1790446"/>
                    <a:pt x="4276344" y="2306828"/>
                    <a:pt x="2754884" y="2306828"/>
                  </a:cubicBezTo>
                  <a:cubicBezTo>
                    <a:pt x="1233424" y="2306828"/>
                    <a:pt x="0" y="1790446"/>
                    <a:pt x="0" y="1153414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43794" y="6067215"/>
            <a:ext cx="3431677" cy="960872"/>
            <a:chOff x="0" y="0"/>
            <a:chExt cx="4575569" cy="12811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5575" cy="1281161"/>
            </a:xfrm>
            <a:custGeom>
              <a:avLst/>
              <a:gdLst/>
              <a:ahLst/>
              <a:cxnLst/>
              <a:rect r="r" b="b" t="t" l="l"/>
              <a:pathLst>
                <a:path h="1281161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575569" cy="13478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</a:t>
              </a:r>
            </a:p>
            <a:p>
              <a:pPr algn="ctr">
                <a:lnSpc>
                  <a:spcPts val="3782"/>
                </a:lnSpc>
              </a:pPr>
              <a:r>
                <a:rPr lang="en-US" sz="3152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CRISIS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65523" y="5620807"/>
            <a:ext cx="3102807" cy="1181071"/>
            <a:chOff x="0" y="0"/>
            <a:chExt cx="4137076" cy="15747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37152" cy="1574800"/>
            </a:xfrm>
            <a:custGeom>
              <a:avLst/>
              <a:gdLst/>
              <a:ahLst/>
              <a:cxnLst/>
              <a:rect r="r" b="b" t="t" l="l"/>
              <a:pathLst>
                <a:path h="1574800" w="4137152">
                  <a:moveTo>
                    <a:pt x="0" y="262509"/>
                  </a:moveTo>
                  <a:cubicBezTo>
                    <a:pt x="0" y="117475"/>
                    <a:pt x="117475" y="0"/>
                    <a:pt x="262509" y="0"/>
                  </a:cubicBezTo>
                  <a:lnTo>
                    <a:pt x="3874643" y="0"/>
                  </a:lnTo>
                  <a:cubicBezTo>
                    <a:pt x="4019550" y="0"/>
                    <a:pt x="4137152" y="117475"/>
                    <a:pt x="4137152" y="262509"/>
                  </a:cubicBezTo>
                  <a:lnTo>
                    <a:pt x="4137152" y="1312291"/>
                  </a:lnTo>
                  <a:cubicBezTo>
                    <a:pt x="4137152" y="1457198"/>
                    <a:pt x="4019677" y="1574800"/>
                    <a:pt x="3874643" y="1574800"/>
                  </a:cubicBezTo>
                  <a:lnTo>
                    <a:pt x="262509" y="1574800"/>
                  </a:lnTo>
                  <a:cubicBezTo>
                    <a:pt x="117475" y="1574800"/>
                    <a:pt x="0" y="1457198"/>
                    <a:pt x="0" y="1312291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137076" cy="1631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Complexity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65523" y="7611180"/>
            <a:ext cx="3102807" cy="1181071"/>
            <a:chOff x="0" y="0"/>
            <a:chExt cx="4137076" cy="15747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37152" cy="1574800"/>
            </a:xfrm>
            <a:custGeom>
              <a:avLst/>
              <a:gdLst/>
              <a:ahLst/>
              <a:cxnLst/>
              <a:rect r="r" b="b" t="t" l="l"/>
              <a:pathLst>
                <a:path h="1574800" w="4137152">
                  <a:moveTo>
                    <a:pt x="0" y="262509"/>
                  </a:moveTo>
                  <a:cubicBezTo>
                    <a:pt x="0" y="117475"/>
                    <a:pt x="117475" y="0"/>
                    <a:pt x="262509" y="0"/>
                  </a:cubicBezTo>
                  <a:lnTo>
                    <a:pt x="3874643" y="0"/>
                  </a:lnTo>
                  <a:cubicBezTo>
                    <a:pt x="4019550" y="0"/>
                    <a:pt x="4137152" y="117475"/>
                    <a:pt x="4137152" y="262509"/>
                  </a:cubicBezTo>
                  <a:lnTo>
                    <a:pt x="4137152" y="1312291"/>
                  </a:lnTo>
                  <a:cubicBezTo>
                    <a:pt x="4137152" y="1457198"/>
                    <a:pt x="4019677" y="1574800"/>
                    <a:pt x="3874643" y="1574800"/>
                  </a:cubicBezTo>
                  <a:lnTo>
                    <a:pt x="262509" y="1574800"/>
                  </a:lnTo>
                  <a:cubicBezTo>
                    <a:pt x="117475" y="1574800"/>
                    <a:pt x="0" y="1457198"/>
                    <a:pt x="0" y="1312291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4137076" cy="1631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 /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484170" y="5620807"/>
            <a:ext cx="3102807" cy="1181071"/>
            <a:chOff x="0" y="0"/>
            <a:chExt cx="4137076" cy="15747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37152" cy="1574800"/>
            </a:xfrm>
            <a:custGeom>
              <a:avLst/>
              <a:gdLst/>
              <a:ahLst/>
              <a:cxnLst/>
              <a:rect r="r" b="b" t="t" l="l"/>
              <a:pathLst>
                <a:path h="1574800" w="4137152">
                  <a:moveTo>
                    <a:pt x="0" y="262509"/>
                  </a:moveTo>
                  <a:cubicBezTo>
                    <a:pt x="0" y="117475"/>
                    <a:pt x="117475" y="0"/>
                    <a:pt x="262509" y="0"/>
                  </a:cubicBezTo>
                  <a:lnTo>
                    <a:pt x="3874643" y="0"/>
                  </a:lnTo>
                  <a:cubicBezTo>
                    <a:pt x="4019550" y="0"/>
                    <a:pt x="4137152" y="117475"/>
                    <a:pt x="4137152" y="262509"/>
                  </a:cubicBezTo>
                  <a:lnTo>
                    <a:pt x="4137152" y="1312291"/>
                  </a:lnTo>
                  <a:cubicBezTo>
                    <a:pt x="4137152" y="1457198"/>
                    <a:pt x="4019677" y="1574800"/>
                    <a:pt x="3874643" y="1574800"/>
                  </a:cubicBezTo>
                  <a:lnTo>
                    <a:pt x="262509" y="1574800"/>
                  </a:lnTo>
                  <a:cubicBezTo>
                    <a:pt x="117475" y="1574800"/>
                    <a:pt x="0" y="1457198"/>
                    <a:pt x="0" y="1312291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137076" cy="1631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Quality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84170" y="7611180"/>
            <a:ext cx="3102807" cy="1181071"/>
            <a:chOff x="0" y="0"/>
            <a:chExt cx="4137076" cy="15747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37152" cy="1574800"/>
            </a:xfrm>
            <a:custGeom>
              <a:avLst/>
              <a:gdLst/>
              <a:ahLst/>
              <a:cxnLst/>
              <a:rect r="r" b="b" t="t" l="l"/>
              <a:pathLst>
                <a:path h="1574800" w="4137152">
                  <a:moveTo>
                    <a:pt x="0" y="262509"/>
                  </a:moveTo>
                  <a:cubicBezTo>
                    <a:pt x="0" y="117475"/>
                    <a:pt x="117475" y="0"/>
                    <a:pt x="262509" y="0"/>
                  </a:cubicBezTo>
                  <a:lnTo>
                    <a:pt x="3874643" y="0"/>
                  </a:lnTo>
                  <a:cubicBezTo>
                    <a:pt x="4019550" y="0"/>
                    <a:pt x="4137152" y="117475"/>
                    <a:pt x="4137152" y="262509"/>
                  </a:cubicBezTo>
                  <a:lnTo>
                    <a:pt x="4137152" y="1312291"/>
                  </a:lnTo>
                  <a:cubicBezTo>
                    <a:pt x="4137152" y="1457198"/>
                    <a:pt x="4019677" y="1574800"/>
                    <a:pt x="3874643" y="1574800"/>
                  </a:cubicBezTo>
                  <a:lnTo>
                    <a:pt x="262509" y="1574800"/>
                  </a:lnTo>
                  <a:cubicBezTo>
                    <a:pt x="117475" y="1574800"/>
                    <a:pt x="0" y="1457198"/>
                    <a:pt x="0" y="1312291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4137076" cy="1631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Maintenance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5840">
            <a:off x="4443908" y="6194955"/>
            <a:ext cx="2573988" cy="0"/>
          </a:xfrm>
          <a:prstGeom prst="line">
            <a:avLst/>
          </a:prstGeom>
          <a:ln cap="rnd" w="19050">
            <a:solidFill>
              <a:srgbClr val="C03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-818400">
            <a:off x="4406675" y="7903931"/>
            <a:ext cx="2648455" cy="0"/>
          </a:xfrm>
          <a:prstGeom prst="line">
            <a:avLst/>
          </a:prstGeom>
          <a:ln cap="rnd" w="19050">
            <a:solidFill>
              <a:srgbClr val="C03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83820">
            <a:off x="11101283" y="6194955"/>
            <a:ext cx="1407404" cy="0"/>
          </a:xfrm>
          <a:prstGeom prst="line">
            <a:avLst/>
          </a:prstGeom>
          <a:ln cap="rnd" w="19050">
            <a:solidFill>
              <a:srgbClr val="C03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1436220">
            <a:off x="11035294" y="7903931"/>
            <a:ext cx="1539383" cy="0"/>
          </a:xfrm>
          <a:prstGeom prst="line">
            <a:avLst/>
          </a:prstGeom>
          <a:ln cap="rnd" w="19050">
            <a:solidFill>
              <a:srgbClr val="C0392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482490"/>
            <a:chOff x="0" y="0"/>
            <a:chExt cx="24402453" cy="19766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976628"/>
            </a:xfrm>
            <a:custGeom>
              <a:avLst/>
              <a:gdLst/>
              <a:ahLst/>
              <a:cxnLst/>
              <a:rect r="r" b="b" t="t" l="l"/>
              <a:pathLst>
                <a:path h="197662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976628"/>
                  </a:lnTo>
                  <a:lnTo>
                    <a:pt x="0" y="1976628"/>
                  </a:lnTo>
                  <a:close/>
                </a:path>
              </a:pathLst>
            </a:custGeom>
            <a:solidFill>
              <a:srgbClr val="17365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7587" y="193348"/>
            <a:ext cx="16426453" cy="8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Major Causes of Software Crisis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2499" y="1617850"/>
            <a:ext cx="16289188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Key causes identified in the source material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88979" y="9684963"/>
            <a:ext cx="118979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56209" y="4179503"/>
            <a:ext cx="4475483" cy="1592875"/>
            <a:chOff x="0" y="0"/>
            <a:chExt cx="5967311" cy="21238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67222" cy="2123821"/>
            </a:xfrm>
            <a:custGeom>
              <a:avLst/>
              <a:gdLst/>
              <a:ahLst/>
              <a:cxnLst/>
              <a:rect r="r" b="b" t="t" l="l"/>
              <a:pathLst>
                <a:path h="2123821" w="5967222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5613273" y="0"/>
                  </a:lnTo>
                  <a:cubicBezTo>
                    <a:pt x="5808726" y="0"/>
                    <a:pt x="5967222" y="158496"/>
                    <a:pt x="5967222" y="353949"/>
                  </a:cubicBezTo>
                  <a:lnTo>
                    <a:pt x="5967222" y="1769872"/>
                  </a:lnTo>
                  <a:cubicBezTo>
                    <a:pt x="5967222" y="1965325"/>
                    <a:pt x="5808726" y="2123821"/>
                    <a:pt x="5613273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5967311" cy="2190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</a:t>
              </a:r>
            </a:p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3719" y="2395023"/>
            <a:ext cx="3102807" cy="1249709"/>
            <a:chOff x="0" y="0"/>
            <a:chExt cx="4137076" cy="16662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37152" cy="1666367"/>
            </a:xfrm>
            <a:custGeom>
              <a:avLst/>
              <a:gdLst/>
              <a:ahLst/>
              <a:cxnLst/>
              <a:rect r="r" b="b" t="t" l="l"/>
              <a:pathLst>
                <a:path h="1666367" w="4137152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3859403" y="0"/>
                  </a:lnTo>
                  <a:cubicBezTo>
                    <a:pt x="4012819" y="0"/>
                    <a:pt x="4137152" y="124333"/>
                    <a:pt x="4137152" y="277749"/>
                  </a:cubicBezTo>
                  <a:lnTo>
                    <a:pt x="4137152" y="1388618"/>
                  </a:lnTo>
                  <a:cubicBezTo>
                    <a:pt x="4137152" y="1542034"/>
                    <a:pt x="4012819" y="1666367"/>
                    <a:pt x="3859403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137076" cy="172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Increasing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complexity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1003320">
            <a:off x="2345484" y="3984955"/>
            <a:ext cx="6873792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6650307" y="2257758"/>
            <a:ext cx="3102807" cy="1249709"/>
            <a:chOff x="0" y="0"/>
            <a:chExt cx="4137076" cy="16662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37152" cy="1666367"/>
            </a:xfrm>
            <a:custGeom>
              <a:avLst/>
              <a:gdLst/>
              <a:ahLst/>
              <a:cxnLst/>
              <a:rect r="r" b="b" t="t" l="l"/>
              <a:pathLst>
                <a:path h="1666367" w="4137152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3859403" y="0"/>
                  </a:lnTo>
                  <a:cubicBezTo>
                    <a:pt x="4012819" y="0"/>
                    <a:pt x="4137152" y="124333"/>
                    <a:pt x="4137152" y="277749"/>
                  </a:cubicBezTo>
                  <a:lnTo>
                    <a:pt x="4137152" y="1388618"/>
                  </a:lnTo>
                  <a:cubicBezTo>
                    <a:pt x="4137152" y="1542034"/>
                    <a:pt x="4012819" y="1666367"/>
                    <a:pt x="3859403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137076" cy="172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Large-scale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4035540">
            <a:off x="7484012" y="3916318"/>
            <a:ext cx="2293334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278268" y="2395023"/>
            <a:ext cx="3102807" cy="1249709"/>
            <a:chOff x="0" y="0"/>
            <a:chExt cx="4137076" cy="16662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37152" cy="1666367"/>
            </a:xfrm>
            <a:custGeom>
              <a:avLst/>
              <a:gdLst/>
              <a:ahLst/>
              <a:cxnLst/>
              <a:rect r="r" b="b" t="t" l="l"/>
              <a:pathLst>
                <a:path h="1666367" w="4137152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3859403" y="0"/>
                  </a:lnTo>
                  <a:cubicBezTo>
                    <a:pt x="4012819" y="0"/>
                    <a:pt x="4137152" y="124333"/>
                    <a:pt x="4137152" y="277749"/>
                  </a:cubicBezTo>
                  <a:lnTo>
                    <a:pt x="4137152" y="1388618"/>
                  </a:lnTo>
                  <a:cubicBezTo>
                    <a:pt x="4137152" y="1542034"/>
                    <a:pt x="4012819" y="1666367"/>
                    <a:pt x="3859403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4137076" cy="172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development cost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456060">
            <a:off x="8849535" y="3984955"/>
            <a:ext cx="5190239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953719" y="6650307"/>
            <a:ext cx="3102807" cy="1249709"/>
            <a:chOff x="0" y="0"/>
            <a:chExt cx="4137076" cy="16662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37152" cy="1666367"/>
            </a:xfrm>
            <a:custGeom>
              <a:avLst/>
              <a:gdLst/>
              <a:ahLst/>
              <a:cxnLst/>
              <a:rect r="r" b="b" t="t" l="l"/>
              <a:pathLst>
                <a:path h="1666367" w="4137152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3859403" y="0"/>
                  </a:lnTo>
                  <a:cubicBezTo>
                    <a:pt x="4012819" y="0"/>
                    <a:pt x="4137152" y="124333"/>
                    <a:pt x="4137152" y="277749"/>
                  </a:cubicBezTo>
                  <a:lnTo>
                    <a:pt x="4137152" y="1388618"/>
                  </a:lnTo>
                  <a:cubicBezTo>
                    <a:pt x="4137152" y="1542034"/>
                    <a:pt x="4012819" y="1666367"/>
                    <a:pt x="3859403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4137076" cy="172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Schedule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overruns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-1171620">
            <a:off x="2289962" y="6112593"/>
            <a:ext cx="6984844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6650307" y="6924846"/>
            <a:ext cx="3102807" cy="1249709"/>
            <a:chOff x="0" y="0"/>
            <a:chExt cx="4137076" cy="16662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37152" cy="1666367"/>
            </a:xfrm>
            <a:custGeom>
              <a:avLst/>
              <a:gdLst/>
              <a:ahLst/>
              <a:cxnLst/>
              <a:rect r="r" b="b" t="t" l="l"/>
              <a:pathLst>
                <a:path h="1666367" w="4137152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3859403" y="0"/>
                  </a:lnTo>
                  <a:cubicBezTo>
                    <a:pt x="4012819" y="0"/>
                    <a:pt x="4137152" y="124333"/>
                    <a:pt x="4137152" y="277749"/>
                  </a:cubicBezTo>
                  <a:lnTo>
                    <a:pt x="4137152" y="1388618"/>
                  </a:lnTo>
                  <a:cubicBezTo>
                    <a:pt x="4137152" y="1542034"/>
                    <a:pt x="4012819" y="1666367"/>
                    <a:pt x="3859403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4137076" cy="172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Unreliable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-4274040">
            <a:off x="7252821" y="6249857"/>
            <a:ext cx="2755716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2278268" y="6650307"/>
            <a:ext cx="3102807" cy="1249709"/>
            <a:chOff x="0" y="0"/>
            <a:chExt cx="4137076" cy="16662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37152" cy="1666367"/>
            </a:xfrm>
            <a:custGeom>
              <a:avLst/>
              <a:gdLst/>
              <a:ahLst/>
              <a:cxnLst/>
              <a:rect r="r" b="b" t="t" l="l"/>
              <a:pathLst>
                <a:path h="1666367" w="4137152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3859403" y="0"/>
                  </a:lnTo>
                  <a:cubicBezTo>
                    <a:pt x="4012819" y="0"/>
                    <a:pt x="4137152" y="124333"/>
                    <a:pt x="4137152" y="277749"/>
                  </a:cubicBezTo>
                  <a:lnTo>
                    <a:pt x="4137152" y="1388618"/>
                  </a:lnTo>
                  <a:cubicBezTo>
                    <a:pt x="4137152" y="1542034"/>
                    <a:pt x="4012819" y="1666367"/>
                    <a:pt x="3859403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4137076" cy="1723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Difficult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maintenance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-9243360">
            <a:off x="8776430" y="6112593"/>
            <a:ext cx="5336448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372676" y="8716470"/>
            <a:ext cx="15373931" cy="754971"/>
            <a:chOff x="0" y="0"/>
            <a:chExt cx="20498575" cy="10066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498575" cy="1006626"/>
            </a:xfrm>
            <a:custGeom>
              <a:avLst/>
              <a:gdLst/>
              <a:ahLst/>
              <a:cxnLst/>
              <a:rect r="r" b="b" t="t" l="l"/>
              <a:pathLst>
                <a:path h="1006626" w="20498575">
                  <a:moveTo>
                    <a:pt x="0" y="0"/>
                  </a:moveTo>
                  <a:lnTo>
                    <a:pt x="20498575" y="0"/>
                  </a:lnTo>
                  <a:lnTo>
                    <a:pt x="2049857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6786" r="0" b="-34678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0498575" cy="1054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5C69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Other issues: poor understanding of the problem, inconsistent productivity, and duplication of effort.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482490"/>
            <a:chOff x="0" y="0"/>
            <a:chExt cx="24402453" cy="19766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976628"/>
            </a:xfrm>
            <a:custGeom>
              <a:avLst/>
              <a:gdLst/>
              <a:ahLst/>
              <a:cxnLst/>
              <a:rect r="r" b="b" t="t" l="l"/>
              <a:pathLst>
                <a:path h="197662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976628"/>
                  </a:lnTo>
                  <a:lnTo>
                    <a:pt x="0" y="1976628"/>
                  </a:lnTo>
                  <a:close/>
                </a:path>
              </a:pathLst>
            </a:custGeom>
            <a:solidFill>
              <a:srgbClr val="17365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7587" y="202873"/>
            <a:ext cx="16426453" cy="8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 How Software Engineering Solves the Crisis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2499" y="1617850"/>
            <a:ext cx="16289188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Systematic practices turn problems into manageable activities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88979" y="9684963"/>
            <a:ext cx="118979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9621" y="2395023"/>
            <a:ext cx="3651885" cy="1002621"/>
            <a:chOff x="0" y="0"/>
            <a:chExt cx="4869180" cy="13368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69180" cy="1336802"/>
            </a:xfrm>
            <a:custGeom>
              <a:avLst/>
              <a:gdLst/>
              <a:ahLst/>
              <a:cxnLst/>
              <a:rect r="r" b="b" t="t" l="l"/>
              <a:pathLst>
                <a:path h="1336802" w="4869180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4646422" y="0"/>
                  </a:lnTo>
                  <a:cubicBezTo>
                    <a:pt x="4769485" y="0"/>
                    <a:pt x="4869180" y="99695"/>
                    <a:pt x="4869180" y="222758"/>
                  </a:cubicBezTo>
                  <a:lnTo>
                    <a:pt x="4869180" y="1114044"/>
                  </a:lnTo>
                  <a:cubicBezTo>
                    <a:pt x="4869180" y="1237107"/>
                    <a:pt x="4769485" y="1336802"/>
                    <a:pt x="4646422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869180" cy="1393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 CRISIS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6886" y="3767699"/>
            <a:ext cx="3377346" cy="769268"/>
            <a:chOff x="0" y="0"/>
            <a:chExt cx="4503128" cy="1025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03166" cy="1025652"/>
            </a:xfrm>
            <a:custGeom>
              <a:avLst/>
              <a:gdLst/>
              <a:ahLst/>
              <a:cxnLst/>
              <a:rect r="r" b="b" t="t" l="l"/>
              <a:pathLst>
                <a:path h="1025652" w="4503166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4332224" y="0"/>
                  </a:lnTo>
                  <a:cubicBezTo>
                    <a:pt x="4426585" y="0"/>
                    <a:pt x="4503166" y="76581"/>
                    <a:pt x="4503166" y="170942"/>
                  </a:cubicBezTo>
                  <a:lnTo>
                    <a:pt x="4503166" y="854710"/>
                  </a:lnTo>
                  <a:cubicBezTo>
                    <a:pt x="4503166" y="949071"/>
                    <a:pt x="4426585" y="1025652"/>
                    <a:pt x="4332224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03128" cy="107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 budget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6886" y="4838386"/>
            <a:ext cx="3377346" cy="769268"/>
            <a:chOff x="0" y="0"/>
            <a:chExt cx="4503128" cy="10256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03166" cy="1025652"/>
            </a:xfrm>
            <a:custGeom>
              <a:avLst/>
              <a:gdLst/>
              <a:ahLst/>
              <a:cxnLst/>
              <a:rect r="r" b="b" t="t" l="l"/>
              <a:pathLst>
                <a:path h="1025652" w="4503166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4332224" y="0"/>
                  </a:lnTo>
                  <a:cubicBezTo>
                    <a:pt x="4426585" y="0"/>
                    <a:pt x="4503166" y="76581"/>
                    <a:pt x="4503166" y="170942"/>
                  </a:cubicBezTo>
                  <a:lnTo>
                    <a:pt x="4503166" y="854710"/>
                  </a:lnTo>
                  <a:cubicBezTo>
                    <a:pt x="4503166" y="949071"/>
                    <a:pt x="4426585" y="1025652"/>
                    <a:pt x="4332224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03128" cy="107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Late delivery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96886" y="5909072"/>
            <a:ext cx="3377346" cy="769268"/>
            <a:chOff x="0" y="0"/>
            <a:chExt cx="4503128" cy="10256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03166" cy="1025652"/>
            </a:xfrm>
            <a:custGeom>
              <a:avLst/>
              <a:gdLst/>
              <a:ahLst/>
              <a:cxnLst/>
              <a:rect r="r" b="b" t="t" l="l"/>
              <a:pathLst>
                <a:path h="1025652" w="4503166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4332224" y="0"/>
                  </a:lnTo>
                  <a:cubicBezTo>
                    <a:pt x="4426585" y="0"/>
                    <a:pt x="4503166" y="76581"/>
                    <a:pt x="4503166" y="170942"/>
                  </a:cubicBezTo>
                  <a:lnTo>
                    <a:pt x="4503166" y="854710"/>
                  </a:lnTo>
                  <a:cubicBezTo>
                    <a:pt x="4503166" y="949071"/>
                    <a:pt x="4426585" y="1025652"/>
                    <a:pt x="4332224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03128" cy="107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 quality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96886" y="6979749"/>
            <a:ext cx="3377346" cy="769268"/>
            <a:chOff x="0" y="0"/>
            <a:chExt cx="4503128" cy="10256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03166" cy="1025652"/>
            </a:xfrm>
            <a:custGeom>
              <a:avLst/>
              <a:gdLst/>
              <a:ahLst/>
              <a:cxnLst/>
              <a:rect r="r" b="b" t="t" l="l"/>
              <a:pathLst>
                <a:path h="1025652" w="4503166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4332224" y="0"/>
                  </a:lnTo>
                  <a:cubicBezTo>
                    <a:pt x="4426585" y="0"/>
                    <a:pt x="4503166" y="76581"/>
                    <a:pt x="4503166" y="170942"/>
                  </a:cubicBezTo>
                  <a:lnTo>
                    <a:pt x="4503166" y="854710"/>
                  </a:lnTo>
                  <a:cubicBezTo>
                    <a:pt x="4503166" y="949071"/>
                    <a:pt x="4426585" y="1025652"/>
                    <a:pt x="4332224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CE8E6"/>
            </a:solidFill>
            <a:ln w="14299" cap="sq">
              <a:solidFill>
                <a:srgbClr val="C0392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503128" cy="107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Hard maintenance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56209" y="3355896"/>
            <a:ext cx="4269581" cy="2141944"/>
            <a:chOff x="0" y="0"/>
            <a:chExt cx="5692775" cy="28559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92775" cy="2855976"/>
            </a:xfrm>
            <a:custGeom>
              <a:avLst/>
              <a:gdLst/>
              <a:ahLst/>
              <a:cxnLst/>
              <a:rect r="r" b="b" t="t" l="l"/>
              <a:pathLst>
                <a:path h="2855976" w="5692775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5216779" y="0"/>
                  </a:lnTo>
                  <a:cubicBezTo>
                    <a:pt x="5479669" y="0"/>
                    <a:pt x="5692775" y="213106"/>
                    <a:pt x="5692775" y="475996"/>
                  </a:cubicBezTo>
                  <a:lnTo>
                    <a:pt x="5692775" y="2379980"/>
                  </a:lnTo>
                  <a:cubicBezTo>
                    <a:pt x="5692775" y="2642870"/>
                    <a:pt x="5479669" y="2855976"/>
                    <a:pt x="5216779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5692775" cy="292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2"/>
                </a:lnSpc>
              </a:pPr>
              <a:r>
                <a:rPr lang="en-US" sz="3152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</a:t>
              </a:r>
            </a:p>
            <a:p>
              <a:pPr algn="ctr">
                <a:lnSpc>
                  <a:spcPts val="3782"/>
                </a:lnSpc>
              </a:pPr>
              <a:r>
                <a:rPr lang="en-US" sz="3152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ENGINEERING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586920">
            <a:off x="4705512" y="4211441"/>
            <a:ext cx="2188054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-586920">
            <a:off x="4705512" y="4554607"/>
            <a:ext cx="2188054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-1568280">
            <a:off x="4598613" y="4897784"/>
            <a:ext cx="2401862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-2338440">
            <a:off x="4412780" y="5240950"/>
            <a:ext cx="2773528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2346905" y="2669562"/>
            <a:ext cx="3377346" cy="810444"/>
            <a:chOff x="0" y="0"/>
            <a:chExt cx="4503128" cy="1080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03166" cy="1080643"/>
            </a:xfrm>
            <a:custGeom>
              <a:avLst/>
              <a:gdLst/>
              <a:ahLst/>
              <a:cxnLst/>
              <a:rect r="r" b="b" t="t" l="l"/>
              <a:pathLst>
                <a:path h="1080643" w="4503166">
                  <a:moveTo>
                    <a:pt x="0" y="180086"/>
                  </a:moveTo>
                  <a:cubicBezTo>
                    <a:pt x="0" y="80645"/>
                    <a:pt x="80645" y="0"/>
                    <a:pt x="180086" y="0"/>
                  </a:cubicBezTo>
                  <a:lnTo>
                    <a:pt x="4323080" y="0"/>
                  </a:lnTo>
                  <a:cubicBezTo>
                    <a:pt x="4422521" y="0"/>
                    <a:pt x="4503166" y="80645"/>
                    <a:pt x="4503166" y="180086"/>
                  </a:cubicBezTo>
                  <a:lnTo>
                    <a:pt x="4503166" y="900557"/>
                  </a:lnTo>
                  <a:cubicBezTo>
                    <a:pt x="4503166" y="999998"/>
                    <a:pt x="4422521" y="1080643"/>
                    <a:pt x="4323080" y="1080643"/>
                  </a:cubicBezTo>
                  <a:lnTo>
                    <a:pt x="180086" y="1080643"/>
                  </a:lnTo>
                  <a:cubicBezTo>
                    <a:pt x="80645" y="1080643"/>
                    <a:pt x="0" y="999998"/>
                    <a:pt x="0" y="900557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4503128" cy="1137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Planning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-2808420">
            <a:off x="10812990" y="3724142"/>
            <a:ext cx="1846726" cy="0"/>
          </a:xfrm>
          <a:prstGeom prst="line">
            <a:avLst/>
          </a:prstGeom>
          <a:ln cap="rnd" w="19050">
            <a:solidFill>
              <a:srgbClr val="277D5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2346905" y="3904964"/>
            <a:ext cx="3377346" cy="810444"/>
            <a:chOff x="0" y="0"/>
            <a:chExt cx="4503128" cy="1080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03166" cy="1080643"/>
            </a:xfrm>
            <a:custGeom>
              <a:avLst/>
              <a:gdLst/>
              <a:ahLst/>
              <a:cxnLst/>
              <a:rect r="r" b="b" t="t" l="l"/>
              <a:pathLst>
                <a:path h="1080643" w="4503166">
                  <a:moveTo>
                    <a:pt x="0" y="180086"/>
                  </a:moveTo>
                  <a:cubicBezTo>
                    <a:pt x="0" y="80645"/>
                    <a:pt x="80645" y="0"/>
                    <a:pt x="180086" y="0"/>
                  </a:cubicBezTo>
                  <a:lnTo>
                    <a:pt x="4323080" y="0"/>
                  </a:lnTo>
                  <a:cubicBezTo>
                    <a:pt x="4422521" y="0"/>
                    <a:pt x="4503166" y="80645"/>
                    <a:pt x="4503166" y="180086"/>
                  </a:cubicBezTo>
                  <a:lnTo>
                    <a:pt x="4503166" y="900557"/>
                  </a:lnTo>
                  <a:cubicBezTo>
                    <a:pt x="4503166" y="999998"/>
                    <a:pt x="4422521" y="1080643"/>
                    <a:pt x="4323080" y="1080643"/>
                  </a:cubicBezTo>
                  <a:lnTo>
                    <a:pt x="180086" y="1080643"/>
                  </a:lnTo>
                  <a:cubicBezTo>
                    <a:pt x="80645" y="1080643"/>
                    <a:pt x="0" y="999998"/>
                    <a:pt x="0" y="900557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4503128" cy="1137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Requirements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-301020">
            <a:off x="11101921" y="4341847"/>
            <a:ext cx="1268863" cy="0"/>
          </a:xfrm>
          <a:prstGeom prst="line">
            <a:avLst/>
          </a:prstGeom>
          <a:ln cap="rnd" w="19050">
            <a:solidFill>
              <a:srgbClr val="277D5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2346905" y="5140376"/>
            <a:ext cx="3377346" cy="810444"/>
            <a:chOff x="0" y="0"/>
            <a:chExt cx="4503128" cy="1080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03166" cy="1080643"/>
            </a:xfrm>
            <a:custGeom>
              <a:avLst/>
              <a:gdLst/>
              <a:ahLst/>
              <a:cxnLst/>
              <a:rect r="r" b="b" t="t" l="l"/>
              <a:pathLst>
                <a:path h="1080643" w="4503166">
                  <a:moveTo>
                    <a:pt x="0" y="180086"/>
                  </a:moveTo>
                  <a:cubicBezTo>
                    <a:pt x="0" y="80645"/>
                    <a:pt x="80645" y="0"/>
                    <a:pt x="180086" y="0"/>
                  </a:cubicBezTo>
                  <a:lnTo>
                    <a:pt x="4323080" y="0"/>
                  </a:lnTo>
                  <a:cubicBezTo>
                    <a:pt x="4422521" y="0"/>
                    <a:pt x="4503166" y="80645"/>
                    <a:pt x="4503166" y="180086"/>
                  </a:cubicBezTo>
                  <a:lnTo>
                    <a:pt x="4503166" y="900557"/>
                  </a:lnTo>
                  <a:cubicBezTo>
                    <a:pt x="4503166" y="999998"/>
                    <a:pt x="4422521" y="1080643"/>
                    <a:pt x="4323080" y="1080643"/>
                  </a:cubicBezTo>
                  <a:lnTo>
                    <a:pt x="180086" y="1080643"/>
                  </a:lnTo>
                  <a:cubicBezTo>
                    <a:pt x="80645" y="1080643"/>
                    <a:pt x="0" y="999998"/>
                    <a:pt x="0" y="900557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503128" cy="1137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2584260">
            <a:off x="10871197" y="4959553"/>
            <a:ext cx="1730312" cy="0"/>
          </a:xfrm>
          <a:prstGeom prst="line">
            <a:avLst/>
          </a:prstGeom>
          <a:ln cap="rnd" w="19050">
            <a:solidFill>
              <a:srgbClr val="277D5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2346905" y="6375778"/>
            <a:ext cx="3377346" cy="810444"/>
            <a:chOff x="0" y="0"/>
            <a:chExt cx="4503128" cy="1080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03166" cy="1080643"/>
            </a:xfrm>
            <a:custGeom>
              <a:avLst/>
              <a:gdLst/>
              <a:ahLst/>
              <a:cxnLst/>
              <a:rect r="r" b="b" t="t" l="l"/>
              <a:pathLst>
                <a:path h="1080643" w="4503166">
                  <a:moveTo>
                    <a:pt x="0" y="180086"/>
                  </a:moveTo>
                  <a:cubicBezTo>
                    <a:pt x="0" y="80645"/>
                    <a:pt x="80645" y="0"/>
                    <a:pt x="180086" y="0"/>
                  </a:cubicBezTo>
                  <a:lnTo>
                    <a:pt x="4323080" y="0"/>
                  </a:lnTo>
                  <a:cubicBezTo>
                    <a:pt x="4422521" y="0"/>
                    <a:pt x="4503166" y="80645"/>
                    <a:pt x="4503166" y="180086"/>
                  </a:cubicBezTo>
                  <a:lnTo>
                    <a:pt x="4503166" y="900557"/>
                  </a:lnTo>
                  <a:cubicBezTo>
                    <a:pt x="4503166" y="999998"/>
                    <a:pt x="4422521" y="1080643"/>
                    <a:pt x="4323080" y="1080643"/>
                  </a:cubicBezTo>
                  <a:lnTo>
                    <a:pt x="180086" y="1080643"/>
                  </a:lnTo>
                  <a:cubicBezTo>
                    <a:pt x="80645" y="1080643"/>
                    <a:pt x="0" y="999998"/>
                    <a:pt x="0" y="900557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4503128" cy="1137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Documentation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3743580">
            <a:off x="10372544" y="5577249"/>
            <a:ext cx="2727608" cy="0"/>
          </a:xfrm>
          <a:prstGeom prst="line">
            <a:avLst/>
          </a:prstGeom>
          <a:ln cap="rnd" w="19050">
            <a:solidFill>
              <a:srgbClr val="277D5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4392549" y="8853735"/>
            <a:ext cx="9471441" cy="617706"/>
            <a:chOff x="0" y="0"/>
            <a:chExt cx="12628588" cy="8236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628586" cy="823603"/>
            </a:xfrm>
            <a:custGeom>
              <a:avLst/>
              <a:gdLst/>
              <a:ahLst/>
              <a:cxnLst/>
              <a:rect r="r" b="b" t="t" l="l"/>
              <a:pathLst>
                <a:path h="823603" w="12628586">
                  <a:moveTo>
                    <a:pt x="0" y="0"/>
                  </a:moveTo>
                  <a:lnTo>
                    <a:pt x="12628586" y="0"/>
                  </a:lnTo>
                  <a:lnTo>
                    <a:pt x="126285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2628588" cy="880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1736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Result: better control of cost, time, quality, reliability, and maintenance.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482490"/>
            <a:chOff x="0" y="0"/>
            <a:chExt cx="24402453" cy="19766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976628"/>
            </a:xfrm>
            <a:custGeom>
              <a:avLst/>
              <a:gdLst/>
              <a:ahLst/>
              <a:cxnLst/>
              <a:rect r="r" b="b" t="t" l="l"/>
              <a:pathLst>
                <a:path h="197662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976628"/>
                  </a:lnTo>
                  <a:lnTo>
                    <a:pt x="0" y="1976628"/>
                  </a:lnTo>
                  <a:close/>
                </a:path>
              </a:pathLst>
            </a:custGeom>
            <a:solidFill>
              <a:srgbClr val="17365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7587" y="193348"/>
            <a:ext cx="16426453" cy="8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Guidelines &amp;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2499" y="1617850"/>
            <a:ext cx="16289188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Simple points to remember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88979" y="9684963"/>
            <a:ext cx="118979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C6978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8214" y="2390746"/>
            <a:ext cx="9563090" cy="655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• Control project cost and schedule.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• Understand and manage requirements carefully.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 capable teams and appropriate tools.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• Perform regular testing, reviews, documentation, and maintenance.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• Software Engineering provides a disciplined way to build high-quality and maintainable software.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729199" y="2532297"/>
            <a:ext cx="2141944" cy="975170"/>
            <a:chOff x="0" y="0"/>
            <a:chExt cx="2855925" cy="13002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5849" cy="1300226"/>
            </a:xfrm>
            <a:custGeom>
              <a:avLst/>
              <a:gdLst/>
              <a:ahLst/>
              <a:cxnLst/>
              <a:rect r="r" b="b" t="t" l="l"/>
              <a:pathLst>
                <a:path h="1300226" w="2855849">
                  <a:moveTo>
                    <a:pt x="0" y="216662"/>
                  </a:moveTo>
                  <a:cubicBezTo>
                    <a:pt x="0" y="97028"/>
                    <a:pt x="97028" y="0"/>
                    <a:pt x="216662" y="0"/>
                  </a:cubicBezTo>
                  <a:lnTo>
                    <a:pt x="2639187" y="0"/>
                  </a:lnTo>
                  <a:cubicBezTo>
                    <a:pt x="2758821" y="0"/>
                    <a:pt x="2855849" y="97028"/>
                    <a:pt x="2855849" y="216662"/>
                  </a:cubicBezTo>
                  <a:lnTo>
                    <a:pt x="2855849" y="1083564"/>
                  </a:lnTo>
                  <a:cubicBezTo>
                    <a:pt x="2855849" y="1203198"/>
                    <a:pt x="2758821" y="1300226"/>
                    <a:pt x="2639187" y="1300226"/>
                  </a:cubicBezTo>
                  <a:lnTo>
                    <a:pt x="216662" y="1300226"/>
                  </a:lnTo>
                  <a:cubicBezTo>
                    <a:pt x="97028" y="1300226"/>
                    <a:pt x="0" y="1203198"/>
                    <a:pt x="0" y="1083564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55925" cy="1338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37278" y="2532297"/>
            <a:ext cx="2141944" cy="975170"/>
            <a:chOff x="0" y="0"/>
            <a:chExt cx="2855925" cy="13002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55849" cy="1300226"/>
            </a:xfrm>
            <a:custGeom>
              <a:avLst/>
              <a:gdLst/>
              <a:ahLst/>
              <a:cxnLst/>
              <a:rect r="r" b="b" t="t" l="l"/>
              <a:pathLst>
                <a:path h="1300226" w="2855849">
                  <a:moveTo>
                    <a:pt x="0" y="216662"/>
                  </a:moveTo>
                  <a:cubicBezTo>
                    <a:pt x="0" y="97028"/>
                    <a:pt x="97028" y="0"/>
                    <a:pt x="216662" y="0"/>
                  </a:cubicBezTo>
                  <a:lnTo>
                    <a:pt x="2639187" y="0"/>
                  </a:lnTo>
                  <a:cubicBezTo>
                    <a:pt x="2758821" y="0"/>
                    <a:pt x="2855849" y="97028"/>
                    <a:pt x="2855849" y="216662"/>
                  </a:cubicBezTo>
                  <a:lnTo>
                    <a:pt x="2855849" y="1083564"/>
                  </a:lnTo>
                  <a:cubicBezTo>
                    <a:pt x="2855849" y="1203198"/>
                    <a:pt x="2758821" y="1300226"/>
                    <a:pt x="2639187" y="1300226"/>
                  </a:cubicBezTo>
                  <a:lnTo>
                    <a:pt x="216662" y="1300226"/>
                  </a:lnTo>
                  <a:cubicBezTo>
                    <a:pt x="97028" y="1300226"/>
                    <a:pt x="0" y="1203198"/>
                    <a:pt x="0" y="1083564"/>
                  </a:cubicBezTo>
                  <a:close/>
                </a:path>
              </a:pathLst>
            </a:custGeom>
            <a:solidFill>
              <a:srgbClr val="DDEBF7"/>
            </a:solidFill>
            <a:ln w="14299" cap="sq">
              <a:solidFill>
                <a:srgbClr val="2A619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55925" cy="1338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29199" y="4179503"/>
            <a:ext cx="2141944" cy="975170"/>
            <a:chOff x="0" y="0"/>
            <a:chExt cx="2855925" cy="13002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55849" cy="1300226"/>
            </a:xfrm>
            <a:custGeom>
              <a:avLst/>
              <a:gdLst/>
              <a:ahLst/>
              <a:cxnLst/>
              <a:rect r="r" b="b" t="t" l="l"/>
              <a:pathLst>
                <a:path h="1300226" w="2855849">
                  <a:moveTo>
                    <a:pt x="0" y="216662"/>
                  </a:moveTo>
                  <a:cubicBezTo>
                    <a:pt x="0" y="97028"/>
                    <a:pt x="97028" y="0"/>
                    <a:pt x="216662" y="0"/>
                  </a:cubicBezTo>
                  <a:lnTo>
                    <a:pt x="2639187" y="0"/>
                  </a:lnTo>
                  <a:cubicBezTo>
                    <a:pt x="2758821" y="0"/>
                    <a:pt x="2855849" y="97028"/>
                    <a:pt x="2855849" y="216662"/>
                  </a:cubicBezTo>
                  <a:lnTo>
                    <a:pt x="2855849" y="1083564"/>
                  </a:lnTo>
                  <a:cubicBezTo>
                    <a:pt x="2855849" y="1203198"/>
                    <a:pt x="2758821" y="1300226"/>
                    <a:pt x="2639187" y="1300226"/>
                  </a:cubicBezTo>
                  <a:lnTo>
                    <a:pt x="216662" y="1300226"/>
                  </a:lnTo>
                  <a:cubicBezTo>
                    <a:pt x="97028" y="1300226"/>
                    <a:pt x="0" y="1203198"/>
                    <a:pt x="0" y="1083564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855925" cy="1338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337278" y="4179503"/>
            <a:ext cx="2141944" cy="975170"/>
            <a:chOff x="0" y="0"/>
            <a:chExt cx="2855925" cy="13002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55849" cy="1300226"/>
            </a:xfrm>
            <a:custGeom>
              <a:avLst/>
              <a:gdLst/>
              <a:ahLst/>
              <a:cxnLst/>
              <a:rect r="r" b="b" t="t" l="l"/>
              <a:pathLst>
                <a:path h="1300226" w="2855849">
                  <a:moveTo>
                    <a:pt x="0" y="216662"/>
                  </a:moveTo>
                  <a:cubicBezTo>
                    <a:pt x="0" y="97028"/>
                    <a:pt x="97028" y="0"/>
                    <a:pt x="216662" y="0"/>
                  </a:cubicBezTo>
                  <a:lnTo>
                    <a:pt x="2639187" y="0"/>
                  </a:lnTo>
                  <a:cubicBezTo>
                    <a:pt x="2758821" y="0"/>
                    <a:pt x="2855849" y="97028"/>
                    <a:pt x="2855849" y="216662"/>
                  </a:cubicBezTo>
                  <a:lnTo>
                    <a:pt x="2855849" y="1083564"/>
                  </a:lnTo>
                  <a:cubicBezTo>
                    <a:pt x="2855849" y="1203198"/>
                    <a:pt x="2758821" y="1300226"/>
                    <a:pt x="2639187" y="1300226"/>
                  </a:cubicBezTo>
                  <a:lnTo>
                    <a:pt x="216662" y="1300226"/>
                  </a:lnTo>
                  <a:cubicBezTo>
                    <a:pt x="97028" y="1300226"/>
                    <a:pt x="0" y="1203198"/>
                    <a:pt x="0" y="1083564"/>
                  </a:cubicBezTo>
                  <a:close/>
                </a:path>
              </a:pathLst>
            </a:custGeom>
            <a:solidFill>
              <a:srgbClr val="E7F5EC"/>
            </a:solidFill>
            <a:ln w="14299" cap="sq">
              <a:solidFill>
                <a:srgbClr val="277D5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855925" cy="1338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232D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MAINTAIN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228840">
            <a:off x="13846264" y="3010357"/>
            <a:ext cx="515893" cy="0"/>
          </a:xfrm>
          <a:prstGeom prst="line">
            <a:avLst/>
          </a:prstGeom>
          <a:ln cap="rnd" w="19050">
            <a:solidFill>
              <a:srgbClr val="2A61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9861480">
            <a:off x="12767834" y="3833955"/>
            <a:ext cx="2672753" cy="0"/>
          </a:xfrm>
          <a:prstGeom prst="line">
            <a:avLst/>
          </a:prstGeom>
          <a:ln cap="rnd" w="19050">
            <a:solidFill>
              <a:srgbClr val="277D5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228840">
            <a:off x="13846264" y="4657563"/>
            <a:ext cx="515893" cy="0"/>
          </a:xfrm>
          <a:prstGeom prst="line">
            <a:avLst/>
          </a:prstGeom>
          <a:ln cap="rnd" w="19050">
            <a:solidFill>
              <a:srgbClr val="277D5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2354049" y="6108392"/>
            <a:ext cx="3500314" cy="1509941"/>
            <a:chOff x="0" y="0"/>
            <a:chExt cx="4667085" cy="20132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67086" cy="2013253"/>
            </a:xfrm>
            <a:custGeom>
              <a:avLst/>
              <a:gdLst/>
              <a:ahLst/>
              <a:cxnLst/>
              <a:rect r="r" b="b" t="t" l="l"/>
              <a:pathLst>
                <a:path h="2013253" w="4667086">
                  <a:moveTo>
                    <a:pt x="0" y="0"/>
                  </a:moveTo>
                  <a:lnTo>
                    <a:pt x="4667086" y="0"/>
                  </a:lnTo>
                  <a:lnTo>
                    <a:pt x="4667086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346" t="0" r="-534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4667085" cy="2079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 b="true">
                  <a:solidFill>
                    <a:srgbClr val="1736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GOOD</a:t>
              </a:r>
            </a:p>
            <a:p>
              <a:pPr algn="ctr">
                <a:lnSpc>
                  <a:spcPts val="3782"/>
                </a:lnSpc>
              </a:pPr>
              <a:r>
                <a:rPr lang="en-US" sz="3152" b="true">
                  <a:solidFill>
                    <a:srgbClr val="1736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30451" y="8098765"/>
            <a:ext cx="5216157" cy="823608"/>
            <a:chOff x="0" y="0"/>
            <a:chExt cx="6954876" cy="10981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54873" cy="1098138"/>
            </a:xfrm>
            <a:custGeom>
              <a:avLst/>
              <a:gdLst/>
              <a:ahLst/>
              <a:cxnLst/>
              <a:rect r="r" b="b" t="t" l="l"/>
              <a:pathLst>
                <a:path h="1098138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6954876" cy="11648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3"/>
                </a:lnSpc>
              </a:pPr>
              <a:r>
                <a:rPr lang="en-US" sz="3602" b="true">
                  <a:solidFill>
                    <a:srgbClr val="2A61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99798" y="2127895"/>
            <a:ext cx="10772423" cy="6031220"/>
            <a:chOff x="0" y="0"/>
            <a:chExt cx="14363230" cy="8041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63192" cy="8041640"/>
            </a:xfrm>
            <a:custGeom>
              <a:avLst/>
              <a:gdLst/>
              <a:ahLst/>
              <a:cxnLst/>
              <a:rect r="r" b="b" t="t" l="l"/>
              <a:pathLst>
                <a:path h="8041640" w="14363192">
                  <a:moveTo>
                    <a:pt x="0" y="0"/>
                  </a:moveTo>
                  <a:lnTo>
                    <a:pt x="14363192" y="0"/>
                  </a:lnTo>
                  <a:lnTo>
                    <a:pt x="14363192" y="8041640"/>
                  </a:lnTo>
                  <a:lnTo>
                    <a:pt x="0" y="8041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DAHVMCcZ9nQ</dc:identifier>
  <dcterms:modified xsi:type="dcterms:W3CDTF">2011-08-01T06:04:30Z</dcterms:modified>
  <cp:revision>1</cp:revision>
  <dc:title>66C9 SE THEORY PPT.pptx</dc:title>
</cp:coreProperties>
</file>